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SURVEILLANCE DES APPELS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Plateforme de Veille Sanitaire 1510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Période: 27/01/2025 au 30/11/2025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9ECEF"/>
                </a:solidFill>
              </a:defRPr>
            </a:pPr>
            <a:r>
              <a:t>MINISTÈRE DE LA SANTÉ PUBLIQUE | RÉPUBLIQUE DU CAMEROUN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A33"/>
          </a:solidFill>
          <a:ln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📋 APERÇU GÉNÉRAL - STATISTIQUES GLOBALES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C757D"/>
                </a:solidFill>
              </a:defRPr>
            </a:pPr>
            <a:r>
              <a:t>Centre d'Appels d'Urgence Sanitaire 1510 | MINSANTE Cameroun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560320" cy="18288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40,998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Total Appels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371600"/>
            <a:ext cx="2560320" cy="1828800"/>
          </a:xfrm>
          <a:prstGeom prst="roundRect">
            <a:avLst/>
          </a:prstGeom>
          <a:solidFill>
            <a:srgbClr val="A23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6459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65176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Moyenne/Jour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371600"/>
            <a:ext cx="2560320" cy="1828800"/>
          </a:xfrm>
          <a:prstGeom prst="round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16459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308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65176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Jours Analysés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576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/>
            </a:pPr>
            <a:r>
              <a:t>📊 Classification des Appels (Période: 27/01/2025 au 30/11/2025)</a:t>
            </a:r>
          </a:p>
          <a:p>
            <a:pPr>
              <a:spcAft>
                <a:spcPts val="600"/>
              </a:spcAft>
              <a:defRPr sz="1300"/>
            </a:pPr>
          </a:p>
          <a:p>
            <a:pPr>
              <a:spcAft>
                <a:spcPts val="600"/>
              </a:spcAft>
              <a:defRPr sz="1300"/>
            </a:pPr>
            <a:r>
              <a:t>✅ Appels Légitimes:</a:t>
            </a:r>
          </a:p>
          <a:p>
            <a:pPr>
              <a:spcAft>
                <a:spcPts val="600"/>
              </a:spcAft>
              <a:defRPr sz="1300"/>
            </a:pPr>
            <a:r>
              <a:t>    • Urgences médicales: 92</a:t>
            </a:r>
          </a:p>
          <a:p>
            <a:pPr>
              <a:spcAft>
                <a:spcPts val="600"/>
              </a:spcAft>
              <a:defRPr sz="1300"/>
            </a:pPr>
            <a:r>
              <a:t>    • Cas suspects: 10</a:t>
            </a:r>
          </a:p>
          <a:p>
            <a:pPr>
              <a:spcAft>
                <a:spcPts val="600"/>
              </a:spcAft>
              <a:defRPr sz="1300"/>
            </a:pPr>
            <a:r>
              <a:t>    • Signaux SFE: 14</a:t>
            </a:r>
          </a:p>
          <a:p>
            <a:pPr>
              <a:spcAft>
                <a:spcPts val="600"/>
              </a:spcAft>
              <a:defRPr sz="1300"/>
            </a:pPr>
            <a:r>
              <a:t>    • Rumeurs: 105</a:t>
            </a:r>
          </a:p>
          <a:p>
            <a:pPr>
              <a:spcAft>
                <a:spcPts val="600"/>
              </a:spcAft>
              <a:defRPr sz="1300"/>
            </a:pPr>
          </a:p>
          <a:p>
            <a:pPr>
              <a:spcAft>
                <a:spcPts val="600"/>
              </a:spcAft>
              <a:defRPr sz="1300"/>
            </a:pPr>
            <a:r>
              <a:t>⚠️ Appels Indésirables:</a:t>
            </a:r>
          </a:p>
          <a:p>
            <a:pPr>
              <a:spcAft>
                <a:spcPts val="600"/>
              </a:spcAft>
              <a:defRPr sz="1300"/>
            </a:pPr>
            <a:r>
              <a:t>    • Farces: 39,967</a:t>
            </a:r>
          </a:p>
          <a:p>
            <a:pPr>
              <a:spcAft>
                <a:spcPts val="600"/>
              </a:spcAft>
              <a:defRPr sz="1300"/>
            </a:pPr>
            <a:r>
              <a:t>    • Harcèlements: 2,938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A33"/>
          </a:solidFill>
          <a:ln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📊 INDICATEURS CLÉS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C757D"/>
                </a:solidFill>
              </a:defRPr>
            </a:pPr>
            <a:r>
              <a:t>Centre d'Appels d'Urgence Sanitaire 1510 | MINSANTE Cameroun</a:t>
            </a:r>
          </a:p>
        </p:txBody>
      </p:sp>
      <p:pic>
        <p:nvPicPr>
          <p:cNvPr id="5" name="Picture 4" descr="07_kpi_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50982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A33"/>
          </a:solidFill>
          <a:ln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📈 TENDANCES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C757D"/>
                </a:solidFill>
              </a:defRPr>
            </a:pPr>
            <a:r>
              <a:t>Centre d'Appels d'Urgence Sanitaire 1510 | MINSANTE Cameroun</a:t>
            </a:r>
          </a:p>
        </p:txBody>
      </p:sp>
      <p:pic>
        <p:nvPicPr>
          <p:cNvPr id="5" name="Picture 4" descr="01_tendance_app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34911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A33"/>
          </a:solidFill>
          <a:ln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🎯 RÉPARTITION MOTIFS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C757D"/>
                </a:solidFill>
              </a:defRPr>
            </a:pPr>
            <a:r>
              <a:t>Centre d'Appels d'Urgence Sanitaire 1510 | MINSANTE Cameroun</a:t>
            </a:r>
          </a:p>
        </p:txBody>
      </p:sp>
      <p:pic>
        <p:nvPicPr>
          <p:cNvPr id="5" name="Picture 4" descr="02_repartition_moti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40940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A33"/>
          </a:solidFill>
          <a:ln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🔬 SURVEILLANCE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C757D"/>
                </a:solidFill>
              </a:defRPr>
            </a:pPr>
            <a:r>
              <a:t>Centre d'Appels d'Urgence Sanitaire 1510 | MINSANTE Cameroun</a:t>
            </a:r>
          </a:p>
        </p:txBody>
      </p:sp>
      <p:pic>
        <p:nvPicPr>
          <p:cNvPr id="5" name="Picture 4" descr="03_signaux_epidemiq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34894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A33"/>
          </a:solidFill>
          <a:ln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⚠️ INDÉSIRABLES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C757D"/>
                </a:solidFill>
              </a:defRPr>
            </a:pPr>
            <a:r>
              <a:t>Centre d'Appels d'Urgence Sanitaire 1510 | MINSANTE Cameroun</a:t>
            </a:r>
          </a:p>
        </p:txBody>
      </p:sp>
      <p:pic>
        <p:nvPicPr>
          <p:cNvPr id="5" name="Picture 4" descr="04_appels_indesira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35747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A33"/>
          </a:solidFill>
          <a:ln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🗓️ HEATMAP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C757D"/>
                </a:solidFill>
              </a:defRPr>
            </a:pPr>
            <a:r>
              <a:t>Centre d'Appels d'Urgence Sanitaire 1510 | MINSANTE Cameroun</a:t>
            </a:r>
          </a:p>
        </p:txBody>
      </p:sp>
      <p:pic>
        <p:nvPicPr>
          <p:cNvPr id="5" name="Picture 4" descr="05_heatmap_inten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114265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A33"/>
          </a:solidFill>
          <a:ln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📊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C757D"/>
                </a:solidFill>
              </a:defRPr>
            </a:pPr>
            <a:r>
              <a:t>Centre d'Appels d'Urgence Sanitaire 1510 | MINSANTE Cameroun</a:t>
            </a:r>
          </a:p>
        </p:txBody>
      </p:sp>
      <p:pic>
        <p:nvPicPr>
          <p:cNvPr id="5" name="Picture 4" descr="06_distribution_themati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87149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A33"/>
          </a:solidFill>
          <a:ln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📊 COMPARAISON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C757D"/>
                </a:solidFill>
              </a:defRPr>
            </a:pPr>
            <a:r>
              <a:t>Centre d'Appels d'Urgence Sanitaire 1510 | MINSANTE Cameroun</a:t>
            </a:r>
          </a:p>
        </p:txBody>
      </p:sp>
      <p:pic>
        <p:nvPicPr>
          <p:cNvPr id="5" name="Picture 4" descr="08_comparaison_heb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35765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A33"/>
          </a:solidFill>
          <a:ln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🎯 CONCLUSIONS &amp; RECOMMANDATIONS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C757D"/>
                </a:solidFill>
              </a:defRPr>
            </a:pPr>
            <a:r>
              <a:t>Centre d'Appels d'Urgence Sanitaire 1510 | MINSANTE Cameroun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/>
            </a:pPr>
            <a:r>
              <a:t>📈 SYNTHÈSE DE L'ANALYSE (27/01/2025 au 30/11/2025)</a:t>
            </a:r>
          </a:p>
          <a:p>
            <a:pPr>
              <a:spcAft>
                <a:spcPts val="800"/>
              </a:spcAft>
              <a:defRPr sz="1300"/>
            </a:pPr>
          </a:p>
          <a:p>
            <a:pPr>
              <a:spcAft>
                <a:spcPts val="800"/>
              </a:spcAft>
              <a:defRPr sz="1300"/>
            </a:pPr>
            <a:r>
              <a:t>✅ POINTS CLÉS:</a:t>
            </a:r>
          </a:p>
          <a:p>
            <a:pPr>
              <a:spcAft>
                <a:spcPts val="800"/>
              </a:spcAft>
              <a:defRPr sz="1300"/>
            </a:pPr>
            <a:r>
              <a:t>    • 40,998 appels traités sur 308 jours d'opération</a:t>
            </a:r>
          </a:p>
          <a:p>
            <a:pPr>
              <a:spcAft>
                <a:spcPts val="800"/>
              </a:spcAft>
              <a:defRPr sz="1300"/>
            </a:pPr>
            <a:r>
              <a:t>    • Moyenne quotidienne: 133 appels/jour</a:t>
            </a:r>
          </a:p>
          <a:p>
            <a:pPr>
              <a:spcAft>
                <a:spcPts val="800"/>
              </a:spcAft>
              <a:defRPr sz="1300"/>
            </a:pPr>
            <a:r>
              <a:t>    • 92 urgences médicales prises en charge</a:t>
            </a:r>
          </a:p>
          <a:p>
            <a:pPr>
              <a:spcAft>
                <a:spcPts val="800"/>
              </a:spcAft>
              <a:defRPr sz="1300"/>
            </a:pPr>
            <a:r>
              <a:t>    • 14 signaux de surveillance épidémiologique détectés</a:t>
            </a:r>
          </a:p>
          <a:p>
            <a:pPr>
              <a:spcAft>
                <a:spcPts val="800"/>
              </a:spcAft>
              <a:defRPr sz="1300"/>
            </a:pPr>
          </a:p>
          <a:p>
            <a:pPr>
              <a:spcAft>
                <a:spcPts val="800"/>
              </a:spcAft>
              <a:defRPr sz="1300"/>
            </a:pPr>
            <a:r>
              <a:t>⚠️ DÉFIS IDENTIFIÉS:</a:t>
            </a:r>
          </a:p>
          <a:p>
            <a:pPr>
              <a:spcAft>
                <a:spcPts val="800"/>
              </a:spcAft>
              <a:defRPr sz="1300"/>
            </a:pPr>
            <a:r>
              <a:t>    • 39,967 appels de farce (97% du total)</a:t>
            </a:r>
          </a:p>
          <a:p>
            <a:pPr>
              <a:spcAft>
                <a:spcPts val="800"/>
              </a:spcAft>
              <a:defRPr sz="1300"/>
            </a:pPr>
            <a:r>
              <a:t>    • 2,938 cas de harcèlement</a:t>
            </a:r>
          </a:p>
          <a:p>
            <a:pPr>
              <a:spcAft>
                <a:spcPts val="800"/>
              </a:spcAft>
              <a:defRPr sz="1300"/>
            </a:pPr>
            <a:r>
              <a:t>    • Impact significatif sur les ressources opérationnelles</a:t>
            </a:r>
          </a:p>
          <a:p>
            <a:pPr>
              <a:spcAft>
                <a:spcPts val="800"/>
              </a:spcAft>
              <a:defRPr sz="1300"/>
            </a:pPr>
          </a:p>
          <a:p>
            <a:pPr>
              <a:spcAft>
                <a:spcPts val="800"/>
              </a:spcAft>
              <a:defRPr sz="1300"/>
            </a:pPr>
            <a:r>
              <a:t>💡 RECOMMANDATIONS:</a:t>
            </a:r>
          </a:p>
          <a:p>
            <a:pPr>
              <a:spcAft>
                <a:spcPts val="800"/>
              </a:spcAft>
              <a:defRPr sz="1300"/>
            </a:pPr>
            <a:r>
              <a:t>    1. Renforcer la sensibilisation publique sur l'usage approprié du 1510</a:t>
            </a:r>
          </a:p>
          <a:p>
            <a:pPr>
              <a:spcAft>
                <a:spcPts val="800"/>
              </a:spcAft>
              <a:defRPr sz="1300"/>
            </a:pPr>
            <a:r>
              <a:t>    2. Développer un système de filtrage intelligent des appels indésirables</a:t>
            </a:r>
          </a:p>
          <a:p>
            <a:pPr>
              <a:spcAft>
                <a:spcPts val="800"/>
              </a:spcAft>
              <a:defRPr sz="1300"/>
            </a:pPr>
            <a:r>
              <a:t>    3. Maintenir la vigilance épidémiologique continue</a:t>
            </a:r>
          </a:p>
          <a:p>
            <a:pPr>
              <a:spcAft>
                <a:spcPts val="800"/>
              </a:spcAft>
              <a:defRPr sz="1300"/>
            </a:pPr>
            <a:r>
              <a:t>    4. Optimiser l'allocation des ressources pendant les pics identifiés</a:t>
            </a:r>
          </a:p>
          <a:p>
            <a:pPr>
              <a:spcAft>
                <a:spcPts val="800"/>
              </a:spcAft>
              <a:defRPr sz="1300"/>
            </a:pPr>
            <a:r>
              <a:t>    5. Améliorer la formation des opérateurs sur la gestion des cas suspects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MERCI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</a:defRPr>
            </a:pPr>
            <a:r>
              <a:t>Pour votre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9ECEF"/>
                </a:solidFill>
              </a:defRPr>
            </a:pPr>
            <a:r>
              <a:t>Centre d'Appels d'Urgence Sanitaire - 1510</a:t>
            </a:r>
          </a:p>
          <a:p>
            <a:pPr algn="ctr">
              <a:defRPr sz="1400">
                <a:solidFill>
                  <a:srgbClr val="E9ECEF"/>
                </a:solidFill>
              </a:defRPr>
            </a:pPr>
            <a:r>
              <a:t>MINSANTÉ | République du Cameroun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