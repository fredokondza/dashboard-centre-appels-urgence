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Nombre d'appels</c:v>
                </c:pt>
              </c:strCache>
            </c:strRef>
          </c:tx>
          <c:spPr>
            <a:solidFill>
              <a:srgbClr val="007A33"/>
            </a:solidFill>
          </c:spPr>
          <c:cat>
            <c:strRef>
              <c:f>Sheet1!$A$2:$A$2</c:f>
              <c:strCache>
                <c:ptCount val="1"/>
                <c:pt idx="0">
                  <c:v>S48_2025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943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MINISTÈRE DE LA SANTÉ PUBLIQUE - RÉPUBLIQUE DU CAMEROUN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0" b="1">
                <a:solidFill>
                  <a:srgbClr val="007A33"/>
                </a:solidFill>
              </a:rPr>
              <a:t>SITUATION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5943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212529"/>
                </a:solidFill>
              </a:rPr>
              <a:t>DU CENTRE D'APPELS
D'URGENCE SANITAIRE
</a:t>
            </a:r>
          </a:p>
          <a:p>
            <a:r>
              <a:rPr sz="2800" b="0">
                <a:solidFill>
                  <a:srgbClr val="CE1126"/>
                </a:solidFill>
              </a:rPr>
              <a:t>
au 30 November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C757D"/>
                </a:solidFill>
              </a:defRPr>
            </a:pPr>
            <a:r>
              <a:t>Centre d'Appels d'Urgence Sanitaire - Numéro d'urgence : 1510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FAITS SAILLANTS DU 24 AU 30 NOVEMBER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E1126"/>
                </a:solidFill>
              </a:defRPr>
            </a:pPr>
            <a:r>
              <a:t>📞 829 NOUVEAUX APPELS REÇUS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212529"/>
                </a:solidFill>
              </a:defRPr>
            </a:pPr>
            <a:r>
              <a:t>🏥 0 Renseignements Santé  |  🚑 0 Assistances Médicales  |  📡 0 Signaux de Surveillance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377440"/>
            <a:ext cx="9445752" cy="1828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C757D"/>
                </a:solidFill>
              </a:defRPr>
            </a:pPr>
            <a:r>
              <a:t>📞 0 appel(s) sortant(s) émis  |  ⚠️ 829 autres appels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ÉVOLUTION DES APPELS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601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CE1126"/>
                </a:solidFill>
              </a:defRPr>
            </a:pPr>
            <a:r>
              <a:t>📈 Période : S48_2025 à S48_2025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737360"/>
          <a:ext cx="10725912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QUESTIONS D'INTÉRÊT POSÉES AU 1510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601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CE1126"/>
                </a:solidFill>
              </a:defRPr>
            </a:pPr>
            <a:r>
              <a:t>📅 Période : 24 au 30 November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4457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1200"/>
              </a:spcBef>
              <a:spcAft>
                <a:spcPts val="1200"/>
              </a:spcAft>
              <a:defRPr sz="1500">
                <a:solidFill>
                  <a:srgbClr val="212529"/>
                </a:solidFill>
              </a:defRPr>
            </a:pPr>
            <a:r>
              <a:t>1. Qu'elle est la durée de validité d'une carte CSU ?</a:t>
            </a:r>
          </a:p>
          <a:p>
            <a:pPr>
              <a:lnSpc>
                <a:spcPct val="130000"/>
              </a:lnSpc>
              <a:spcBef>
                <a:spcPts val="1200"/>
              </a:spcBef>
              <a:spcAft>
                <a:spcPts val="1200"/>
              </a:spcAft>
              <a:defRPr sz="1500">
                <a:solidFill>
                  <a:srgbClr val="212529"/>
                </a:solidFill>
              </a:defRPr>
            </a:pPr>
            <a:r>
              <a:t>2. Est ce qu'on peut avoir une CSU avant d'accoucher ?</a:t>
            </a:r>
          </a:p>
          <a:p>
            <a:pPr>
              <a:lnSpc>
                <a:spcPct val="130000"/>
              </a:lnSpc>
              <a:spcBef>
                <a:spcPts val="1200"/>
              </a:spcBef>
              <a:spcAft>
                <a:spcPts val="1200"/>
              </a:spcAft>
              <a:defRPr sz="1500">
                <a:solidFill>
                  <a:srgbClr val="212529"/>
                </a:solidFill>
              </a:defRPr>
            </a:pPr>
            <a:r>
              <a:t>3. Combien coûte une carte CSU ?</a:t>
            </a:r>
          </a:p>
          <a:p>
            <a:pPr>
              <a:lnSpc>
                <a:spcPct val="130000"/>
              </a:lnSpc>
              <a:spcBef>
                <a:spcPts val="1200"/>
              </a:spcBef>
              <a:spcAft>
                <a:spcPts val="1200"/>
              </a:spcAft>
              <a:defRPr sz="1500">
                <a:solidFill>
                  <a:srgbClr val="212529"/>
                </a:solidFill>
              </a:defRPr>
            </a:pPr>
            <a:r>
              <a:t>4. Quel est le délai pour recevoir la carte CSU ?</a:t>
            </a:r>
          </a:p>
          <a:p>
            <a:pPr>
              <a:lnSpc>
                <a:spcPct val="130000"/>
              </a:lnSpc>
              <a:spcBef>
                <a:spcPts val="1200"/>
              </a:spcBef>
              <a:spcAft>
                <a:spcPts val="1200"/>
              </a:spcAft>
              <a:defRPr sz="1500">
                <a:solidFill>
                  <a:srgbClr val="212529"/>
                </a:solidFill>
              </a:defRPr>
            </a:pPr>
            <a:r>
              <a:t>5. Puis-je utiliser ma carte CSU dans toutes les structures de santé 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ACTIVITÉS MENÉES ET PLANIFIÉES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371600"/>
          <a:ext cx="103601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80076"/>
                <a:gridCol w="5180076"/>
              </a:tblGrid>
              <a:tr h="2514600"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✅ ACTIVITÉS MENÉES</a:t>
                      </a:r>
                    </a:p>
                  </a:txBody>
                  <a:tcPr marT="91440" marB="91440">
                    <a:solidFill>
                      <a:srgbClr val="007A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📋 ACTIVITÉS PLANIFIÉES</a:t>
                      </a:r>
                    </a:p>
                  </a:txBody>
                  <a:tcPr marT="91440" marB="91440">
                    <a:solidFill>
                      <a:srgbClr val="007A33"/>
                    </a:solidFill>
                  </a:tcPr>
                </a:tc>
              </a:tr>
              <a:tr h="2514600">
                <a:tc>
                  <a:txBody>
                    <a:bodyPr/>
                    <a:lstStyle/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• Formation des opérateurs sur la gestion des appels d'urgence</a:t>
                      </a:r>
                    </a:p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• Mise à jour de la base de données des centres de santé</a:t>
                      </a:r>
                    </a:p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• Coordination avec les équipes de surveillance épidémiologique</a:t>
                      </a:r>
                    </a:p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• Analyse des tendances hebdomadaires des appels</a:t>
                      </a:r>
                    </a:p>
                  </a:txBody>
                  <a:tcPr marL="137160" marR="137160" marT="137160"/>
                </a:tc>
                <a:tc>
                  <a:txBody>
                    <a:bodyPr/>
                    <a:lstStyle/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• Extension de la couverture géographique du service 1510</a:t>
                      </a:r>
                    </a:p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• Intégration d'un système de triage automatisé</a:t>
                      </a:r>
                    </a:p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• Formation continue sur les nouvelles pathologies émergentes</a:t>
                      </a:r>
                    </a:p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• Évaluation de la satisfaction des usagers</a:t>
                      </a:r>
                    </a:p>
                  </a:txBody>
                  <a:tcPr marL="137160" marR="137160" marT="137160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85313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0" b="1">
                <a:solidFill>
                  <a:srgbClr val="FFFFFF"/>
                </a:solidFill>
              </a:defRPr>
            </a:pPr>
            <a:r>
              <a:t>MERCI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40480"/>
            <a:ext cx="85313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D700"/>
                </a:solidFill>
              </a:defRPr>
            </a:pPr>
            <a:r>
              <a:t>Pour votre attention</a:t>
            </a:r>
          </a:p>
          <a:p>
            <a:br/>
            <a:pPr algn="ctr">
              <a:defRPr sz="1800">
                <a:solidFill>
                  <a:srgbClr val="FFFFFF"/>
                </a:solidFill>
              </a:defRPr>
            </a:pPr>
            <a:r>
              <a:t>Centre d'Appels d'Urgence Sanitaire - 1510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