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Valeurs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Aucune donnée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Valeurs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Aucune donnée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Valeurs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Aucune donnée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Appels</c:v>
                </c:pt>
              </c:strCache>
            </c:strRef>
          </c:tx>
          <c:spPr>
            <a:solidFill>
              <a:srgbClr val="007A33"/>
            </a:solidFill>
          </c:spPr>
          <c:cat>
            <c:strRef>
              <c:f>Sheet1!$A$2:$A$45</c:f>
              <c:strCache>
                <c:ptCount val="44"/>
                <c:pt idx="0">
                  <c:v>S5_2025</c:v>
                </c:pt>
                <c:pt idx="1">
                  <c:v>S6_2025</c:v>
                </c:pt>
                <c:pt idx="2">
                  <c:v>S7_2025</c:v>
                </c:pt>
                <c:pt idx="3">
                  <c:v>S8_2025</c:v>
                </c:pt>
                <c:pt idx="4">
                  <c:v>S9_2025</c:v>
                </c:pt>
                <c:pt idx="5">
                  <c:v>S10_2025</c:v>
                </c:pt>
                <c:pt idx="6">
                  <c:v>S11_2025</c:v>
                </c:pt>
                <c:pt idx="7">
                  <c:v>S12_2025</c:v>
                </c:pt>
                <c:pt idx="8">
                  <c:v>S13_2025</c:v>
                </c:pt>
                <c:pt idx="9">
                  <c:v>S14_2025</c:v>
                </c:pt>
                <c:pt idx="10">
                  <c:v>S15_2025</c:v>
                </c:pt>
                <c:pt idx="11">
                  <c:v>S16_2025</c:v>
                </c:pt>
                <c:pt idx="12">
                  <c:v>S17_2025</c:v>
                </c:pt>
                <c:pt idx="13">
                  <c:v>S18_2025</c:v>
                </c:pt>
                <c:pt idx="14">
                  <c:v>S19_2025</c:v>
                </c:pt>
                <c:pt idx="15">
                  <c:v>S20_2025</c:v>
                </c:pt>
                <c:pt idx="16">
                  <c:v>S21_2025</c:v>
                </c:pt>
                <c:pt idx="17">
                  <c:v>S22_2025</c:v>
                </c:pt>
                <c:pt idx="18">
                  <c:v>S23_2025</c:v>
                </c:pt>
                <c:pt idx="19">
                  <c:v>S24_2025</c:v>
                </c:pt>
                <c:pt idx="20">
                  <c:v>S25_2025</c:v>
                </c:pt>
                <c:pt idx="21">
                  <c:v>S26_2025</c:v>
                </c:pt>
                <c:pt idx="22">
                  <c:v>S27_2025</c:v>
                </c:pt>
                <c:pt idx="23">
                  <c:v>S28_2025</c:v>
                </c:pt>
                <c:pt idx="24">
                  <c:v>S29_2025</c:v>
                </c:pt>
                <c:pt idx="25">
                  <c:v>S30_2025</c:v>
                </c:pt>
                <c:pt idx="26">
                  <c:v>S31_2025</c:v>
                </c:pt>
                <c:pt idx="27">
                  <c:v>S32_2025</c:v>
                </c:pt>
                <c:pt idx="28">
                  <c:v>S33_2025</c:v>
                </c:pt>
                <c:pt idx="29">
                  <c:v>S34_2025</c:v>
                </c:pt>
                <c:pt idx="30">
                  <c:v>S35_2025</c:v>
                </c:pt>
                <c:pt idx="31">
                  <c:v>S36_2025</c:v>
                </c:pt>
                <c:pt idx="32">
                  <c:v>S37_2025</c:v>
                </c:pt>
                <c:pt idx="33">
                  <c:v>S38_2025</c:v>
                </c:pt>
                <c:pt idx="34">
                  <c:v>S39_2025</c:v>
                </c:pt>
                <c:pt idx="35">
                  <c:v>S40_2025</c:v>
                </c:pt>
                <c:pt idx="36">
                  <c:v>S41_2025</c:v>
                </c:pt>
                <c:pt idx="37">
                  <c:v>S42_2025</c:v>
                </c:pt>
                <c:pt idx="38">
                  <c:v>S43_2025</c:v>
                </c:pt>
                <c:pt idx="39">
                  <c:v>S44_2025</c:v>
                </c:pt>
                <c:pt idx="40">
                  <c:v>S45_2025</c:v>
                </c:pt>
                <c:pt idx="41">
                  <c:v>S46_2025</c:v>
                </c:pt>
                <c:pt idx="42">
                  <c:v>S47_2025</c:v>
                </c:pt>
                <c:pt idx="43">
                  <c:v>S48_2025</c:v>
                </c:pt>
              </c:strCache>
            </c:strRef>
          </c:cat>
          <c:val>
            <c:numRef>
              <c:f>Sheet1!$B$2:$B$45</c:f>
              <c:numCache>
                <c:formatCode>General</c:formatCode>
                <c:ptCount val="44"/>
                <c:pt idx="0">
                  <c:v>614</c:v>
                </c:pt>
                <c:pt idx="1">
                  <c:v>752</c:v>
                </c:pt>
                <c:pt idx="2">
                  <c:v>1273</c:v>
                </c:pt>
                <c:pt idx="3">
                  <c:v>1277</c:v>
                </c:pt>
                <c:pt idx="4">
                  <c:v>1293</c:v>
                </c:pt>
                <c:pt idx="5">
                  <c:v>1158</c:v>
                </c:pt>
                <c:pt idx="6">
                  <c:v>1127</c:v>
                </c:pt>
                <c:pt idx="7">
                  <c:v>855</c:v>
                </c:pt>
                <c:pt idx="8">
                  <c:v>1110</c:v>
                </c:pt>
                <c:pt idx="9">
                  <c:v>1055</c:v>
                </c:pt>
                <c:pt idx="10">
                  <c:v>987</c:v>
                </c:pt>
                <c:pt idx="11">
                  <c:v>1738</c:v>
                </c:pt>
                <c:pt idx="12">
                  <c:v>1146</c:v>
                </c:pt>
                <c:pt idx="13">
                  <c:v>1209</c:v>
                </c:pt>
                <c:pt idx="14">
                  <c:v>1249</c:v>
                </c:pt>
                <c:pt idx="15">
                  <c:v>902</c:v>
                </c:pt>
                <c:pt idx="16">
                  <c:v>1030</c:v>
                </c:pt>
                <c:pt idx="17">
                  <c:v>1105</c:v>
                </c:pt>
                <c:pt idx="18">
                  <c:v>1154</c:v>
                </c:pt>
                <c:pt idx="19">
                  <c:v>1081</c:v>
                </c:pt>
                <c:pt idx="20">
                  <c:v>962</c:v>
                </c:pt>
                <c:pt idx="21">
                  <c:v>971</c:v>
                </c:pt>
                <c:pt idx="22">
                  <c:v>1144</c:v>
                </c:pt>
                <c:pt idx="23">
                  <c:v>908</c:v>
                </c:pt>
                <c:pt idx="24">
                  <c:v>1013</c:v>
                </c:pt>
                <c:pt idx="25">
                  <c:v>835</c:v>
                </c:pt>
                <c:pt idx="26">
                  <c:v>923</c:v>
                </c:pt>
                <c:pt idx="27">
                  <c:v>931</c:v>
                </c:pt>
                <c:pt idx="28">
                  <c:v>994</c:v>
                </c:pt>
                <c:pt idx="29">
                  <c:v>1046</c:v>
                </c:pt>
                <c:pt idx="30">
                  <c:v>760</c:v>
                </c:pt>
                <c:pt idx="31">
                  <c:v>991</c:v>
                </c:pt>
                <c:pt idx="32">
                  <c:v>1066</c:v>
                </c:pt>
                <c:pt idx="33">
                  <c:v>728</c:v>
                </c:pt>
                <c:pt idx="34">
                  <c:v>624</c:v>
                </c:pt>
                <c:pt idx="35">
                  <c:v>685</c:v>
                </c:pt>
                <c:pt idx="36">
                  <c:v>771</c:v>
                </c:pt>
                <c:pt idx="37">
                  <c:v>927</c:v>
                </c:pt>
                <c:pt idx="38">
                  <c:v>871</c:v>
                </c:pt>
                <c:pt idx="39">
                  <c:v>943</c:v>
                </c:pt>
                <c:pt idx="40">
                  <c:v>1113</c:v>
                </c:pt>
                <c:pt idx="41">
                  <c:v>1223</c:v>
                </c:pt>
                <c:pt idx="42">
                  <c:v>1176</c:v>
                </c:pt>
                <c:pt idx="43">
                  <c:v>943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MINISTÈRE DE LA SANTÉ PUBLIQUE - RÉPUBLIQUE DU CAMEROUN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007A33"/>
                </a:solidFill>
              </a:rPr>
              <a:t>SITUATION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12529"/>
                </a:solidFill>
              </a:rPr>
              <a:t>DU CENTRE D'APPELS
D'URGENCE SANITAIRE
</a:t>
            </a:r>
          </a:p>
          <a:p>
            <a:r>
              <a:rPr sz="2800" b="0">
                <a:solidFill>
                  <a:srgbClr val="CE1126"/>
                </a:solidFill>
              </a:rPr>
              <a:t>
au 30 November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Centre d'Appels d'Urgence Sanitaire - Numéro d'urgence : 1510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FAITS SAILLANTS DU 24 AU 30 NOVEMBER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E1126"/>
                </a:solidFill>
              </a:defRPr>
            </a:pPr>
            <a:r>
              <a:t>📞 829 NOUVEAUX APPELS REÇUS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12529"/>
                </a:solidFill>
              </a:defRPr>
            </a:pPr>
            <a:r>
              <a:t>🏥 0 Renseignements Santé  |  🚑 0 Assistances Médicales  |  📡 0 Signaux de Surveillance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377440"/>
            <a:ext cx="9445752" cy="1828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7A33"/>
                </a:solidFill>
              </a:defRPr>
            </a:pPr>
            <a:r>
              <a:t>🏥 Renseignements Santé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2743200"/>
          <a:ext cx="347472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389120" y="246888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CE1126"/>
                </a:solidFill>
              </a:defRPr>
            </a:pPr>
            <a:r>
              <a:t>🚑 Assistances Médicales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389120" y="2743200"/>
          <a:ext cx="3474720" cy="3474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046720" y="246888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D6EFD"/>
                </a:solidFill>
              </a:defRPr>
            </a:pPr>
            <a:r>
              <a:t>📡 Signaux de Surveillance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8046720" y="2743200"/>
          <a:ext cx="3474720" cy="34747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📞 0 appel(s) sortant(s) émis  |  ⚠️ 829 autres appels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COMPARAISON DES APPELS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CE1126"/>
                </a:solidFill>
              </a:defRPr>
            </a:pPr>
            <a:r>
              <a:t>📊 S47_2025 vs S48_2025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737360"/>
          <a:ext cx="9436608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1975104"/>
                <a:gridCol w="1975104"/>
              </a:tblGrid>
              <a:tr h="240631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Catégorie</a:t>
                      </a:r>
                    </a:p>
                  </a:txBody>
                  <a:tcPr marT="45720" marB="45720">
                    <a:solidFill>
                      <a:srgbClr val="007A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S47_2025</a:t>
                      </a:r>
                    </a:p>
                  </a:txBody>
                  <a:tcPr marT="45720" marB="45720">
                    <a:solidFill>
                      <a:srgbClr val="007A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S48_2025</a:t>
                      </a:r>
                    </a:p>
                  </a:txBody>
                  <a:tcPr marT="45720" marB="45720">
                    <a:solidFill>
                      <a:srgbClr val="007A33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Couverture Santé Universelle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Informations Pharmacie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/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Structures de Référence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Programmes de Santé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/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Rumeurs Sanitaires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Problématiques de Santé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/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Urgences Médicales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Gestion de Maladies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T="45720" marB="45720"/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Autres Appels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Questions Sociales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T="45720" marB="45720"/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Questions Sécuritaires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Soutien Psychologique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T="45720" marB="45720"/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Signaux de Surveillance Épidémiologique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Autres Santé Publique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/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Cas Suspects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Appels Farces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1047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823</a:t>
                      </a:r>
                    </a:p>
                  </a:txBody>
                  <a:tcPr marT="45720" marB="45720"/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Appels de Harcèlement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</a:tr>
              <a:tr h="24064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1176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943</a:t>
                      </a:r>
                    </a:p>
                  </a:txBody>
                  <a:tcPr marT="45720" marB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ÉVOLUTION DES APPELS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CE1126"/>
                </a:solidFill>
              </a:defRPr>
            </a:pPr>
            <a:r>
              <a:t>📈 Période : S5_2025 à S48_2025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737360"/>
          <a:ext cx="10725912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QUESTIONS D'INTÉRÊT POSÉES AU 1510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CE1126"/>
                </a:solidFill>
              </a:defRPr>
            </a:pPr>
            <a:r>
              <a:t>📅 Période : 24 au 30 November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457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1. Qu'elle est la durée de validité d'une carte CSU ?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2. Est-ce qu'un Diabétique peut bénéficier de la CSU ?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3. Comment obtenir une carte CSU ?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4. Quels sont les centres de santé agréés CSU ?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5. Puis-je utiliser ma carte CSU dans toutes les régions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ACTIVITÉS MENÉES ET PLANIFIÉES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103601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0076"/>
                <a:gridCol w="5180076"/>
              </a:tblGrid>
              <a:tr h="25146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✅ ACTIVITÉS MENÉES</a:t>
                      </a:r>
                    </a:p>
                  </a:txBody>
                  <a:tcPr marT="91440" marB="91440">
                    <a:solidFill>
                      <a:srgbClr val="007A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📋 ACTIVITÉS PLANIFIÉES</a:t>
                      </a:r>
                    </a:p>
                  </a:txBody>
                  <a:tcPr marT="91440" marB="91440">
                    <a:solidFill>
                      <a:srgbClr val="007A33"/>
                    </a:solidFill>
                  </a:tcPr>
                </a:tc>
              </a:tr>
              <a:tr h="2514600">
                <a:tc>
                  <a:txBody>
                    <a:bodyPr/>
                    <a:lstStyle/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Formation des opérateurs sur la gestion des appels d'urgence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Mise à jour de la base de données des centres de santé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Coordination avec les équipes de surveillance épidémiologique</a:t>
                      </a:r>
                    </a:p>
                  </a:txBody>
                  <a:tcPr marL="137160" marR="137160" marT="137160"/>
                </a:tc>
                <a:tc>
                  <a:txBody>
                    <a:bodyPr/>
                    <a:lstStyle/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Extension de la couverture géographique du service 1510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Intégration d'un système de triage automatisé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Formation continue sur les nouvelles pathologies émergentes</a:t>
                      </a:r>
                    </a:p>
                  </a:txBody>
                  <a:tcPr marL="137160" marR="137160" marT="13716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313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0" b="1">
                <a:solidFill>
                  <a:srgbClr val="FFFFFF"/>
                </a:solidFill>
              </a:defRPr>
            </a:pPr>
            <a:r>
              <a:t>MERCI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531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D700"/>
                </a:solidFill>
              </a:defRPr>
            </a:pPr>
            <a:r>
              <a:t>Pour votre attention</a:t>
            </a:r>
          </a:p>
          <a:p>
            <a:br/>
            <a:pPr algn="ctr">
              <a:defRPr sz="1800">
                <a:solidFill>
                  <a:srgbClr val="FFFFFF"/>
                </a:solidFill>
              </a:defRPr>
            </a:pPr>
            <a:r>
              <a:t>Centre d'Appels d'Urgence Sanitaire - 1510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